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00" d="100"/>
          <a:sy n="400" d="100"/>
        </p:scale>
        <p:origin x="-4859" y="-45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283464"/>
            <a:ext cx="91440" cy="402336"/>
          </a:xfrm>
          <a:prstGeom prst="rect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246888"/>
            <a:ext cx="11018520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2380" b="1" i="0">
                <a:solidFill>
                  <a:srgbClr val="122E4E"/>
                </a:solidFill>
                <a:latin typeface="Noto Sans CJK JP"/>
              </a:defRPr>
            </a:pPr>
            <a:r>
              <a:t>音声命令からAI_1移動まで：AIR Managerとの座標授受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110" b="0" i="0">
                <a:solidFill>
                  <a:srgbClr val="5B6E82"/>
                </a:solidFill>
                <a:latin typeface="Noto Sans CJK JP"/>
              </a:defRPr>
            </a:pPr>
            <a:r>
              <a:t>CH12 実機再現性検証  |  UMLシーケンス図相当  |  公式基準版 Unity: MREAL_OpenXR_Sample6_Haptic_Sandbox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" y="1097280"/>
            <a:ext cx="11256264" cy="0"/>
          </a:xfrm>
          <a:prstGeom prst="line">
            <a:avLst/>
          </a:prstGeom>
          <a:ln w="12700">
            <a:solidFill>
              <a:srgbClr val="DBE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470648" y="1170432"/>
            <a:ext cx="1892807" cy="256032"/>
          </a:xfrm>
          <a:prstGeom prst="roundRect">
            <a:avLst>
              <a:gd name="adj" fmla="val 14000"/>
            </a:avLst>
          </a:prstGeom>
          <a:solidFill>
            <a:srgbClr val="E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71231" y="1175918"/>
            <a:ext cx="1719072" cy="2331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930" b="1" i="0">
                <a:solidFill>
                  <a:srgbClr val="077979"/>
                </a:solidFill>
                <a:latin typeface="Noto Sans CJK JP"/>
              </a:defRPr>
            </a:pPr>
            <a:r>
              <a:t>実線：接続・移動を実機確認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91472" y="1170432"/>
            <a:ext cx="2103120" cy="256032"/>
          </a:xfrm>
          <a:prstGeom prst="roundRect">
            <a:avLst>
              <a:gd name="adj" fmla="val 14000"/>
            </a:avLst>
          </a:prstGeom>
          <a:solidFill>
            <a:srgbClr val="E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55480" y="1175918"/>
            <a:ext cx="1956816" cy="2331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915" b="1" i="0">
                <a:solidFill>
                  <a:srgbClr val="B5751E"/>
                </a:solidFill>
                <a:latin typeface="Noto Sans CJK JP"/>
              </a:defRPr>
            </a:pPr>
            <a:r>
              <a:rPr>
                <a:solidFill>
                  <a:srgbClr val="077979"/>
                </a:solidFill>
              </a:rPr>
              <a:t>破線：返信（コード照合済）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19" y="1536192"/>
            <a:ext cx="1417320" cy="694944"/>
          </a:xfrm>
          <a:prstGeom prst="roundRect">
            <a:avLst>
              <a:gd name="adj" fmla="val 14000"/>
            </a:avLst>
          </a:prstGeom>
          <a:solidFill>
            <a:srgbClr val="EDF5FD"/>
          </a:solidFill>
          <a:ln w="12700">
            <a:solidFill>
              <a:srgbClr val="2E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5" y="1600200"/>
            <a:ext cx="13441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60" b="1" i="0">
                <a:solidFill>
                  <a:srgbClr val="122E4E"/>
                </a:solidFill>
                <a:latin typeface="Noto Sans CJK JP"/>
              </a:defRPr>
            </a:pPr>
            <a:r>
              <a:t>利用者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" y="1883664"/>
            <a:ext cx="1344168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919" b="0" i="0">
                <a:solidFill>
                  <a:srgbClr val="5B6E82"/>
                </a:solidFill>
                <a:latin typeface="Noto Sans CJK JP"/>
              </a:defRPr>
            </a:pPr>
            <a:r>
              <a:t>発話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2231136"/>
            <a:ext cx="0" cy="3465576"/>
          </a:xfrm>
          <a:prstGeom prst="line">
            <a:avLst/>
          </a:prstGeom>
          <a:ln w="13970">
            <a:solidFill>
              <a:srgbClr val="DBE7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81428" y="1536192"/>
            <a:ext cx="1856231" cy="694944"/>
          </a:xfrm>
          <a:prstGeom prst="roundRect">
            <a:avLst>
              <a:gd name="adj" fmla="val 14000"/>
            </a:avLst>
          </a:prstGeom>
          <a:solidFill>
            <a:srgbClr val="EDF5FD"/>
          </a:solidFill>
          <a:ln w="12700">
            <a:solidFill>
              <a:srgbClr val="2E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18004" y="1600200"/>
            <a:ext cx="17830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60" b="1" i="0">
                <a:solidFill>
                  <a:srgbClr val="122E4E"/>
                </a:solidFill>
                <a:latin typeface="Noto Sans CJK JP"/>
              </a:defRPr>
            </a:pPr>
            <a:r>
              <a:t>Python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8004" y="1883664"/>
            <a:ext cx="1783079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919" b="0" i="0">
                <a:solidFill>
                  <a:srgbClr val="5B6E82"/>
                </a:solidFill>
                <a:latin typeface="Noto Sans CJK JP"/>
              </a:defRPr>
            </a:pPr>
            <a:r>
              <a:t>Whisper / 音声・JSON処理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9544" y="2231136"/>
            <a:ext cx="0" cy="3465576"/>
          </a:xfrm>
          <a:prstGeom prst="line">
            <a:avLst/>
          </a:prstGeom>
          <a:ln w="13970">
            <a:solidFill>
              <a:srgbClr val="DBE7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2836" y="1536192"/>
            <a:ext cx="1709928" cy="694944"/>
          </a:xfrm>
          <a:prstGeom prst="roundRect">
            <a:avLst>
              <a:gd name="adj" fmla="val 14000"/>
            </a:avLst>
          </a:prstGeom>
          <a:solidFill>
            <a:srgbClr val="EDF5FD"/>
          </a:solidFill>
          <a:ln w="12700">
            <a:solidFill>
              <a:srgbClr val="2E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9412" y="1600200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60" b="1" i="0">
                <a:solidFill>
                  <a:srgbClr val="122E4E"/>
                </a:solidFill>
                <a:latin typeface="Noto Sans CJK JP"/>
              </a:defRPr>
            </a:pPr>
            <a:r>
              <a:t>Ollama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9412" y="1883664"/>
            <a:ext cx="1636776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919" b="0" i="0">
                <a:solidFill>
                  <a:srgbClr val="5B6E82"/>
                </a:solidFill>
                <a:latin typeface="Noto Sans CJK JP"/>
              </a:defRPr>
            </a:pPr>
            <a:r>
              <a:t>Qwen3:8b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57800" y="2231136"/>
            <a:ext cx="0" cy="3465576"/>
          </a:xfrm>
          <a:prstGeom prst="line">
            <a:avLst/>
          </a:prstGeom>
          <a:ln w="13970">
            <a:solidFill>
              <a:srgbClr val="DBE7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47103" y="1536192"/>
            <a:ext cx="2048256" cy="694944"/>
          </a:xfrm>
          <a:prstGeom prst="roundRect">
            <a:avLst>
              <a:gd name="adj" fmla="val 14000"/>
            </a:avLst>
          </a:prstGeom>
          <a:solidFill>
            <a:srgbClr val="E3F6F4"/>
          </a:solidFill>
          <a:ln w="12700"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79" y="1600200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60" b="1" i="0">
                <a:solidFill>
                  <a:srgbClr val="122E4E"/>
                </a:solidFill>
                <a:latin typeface="Noto Sans CJK JP"/>
              </a:defRPr>
            </a:pPr>
            <a:r>
              <a:t>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883664"/>
            <a:ext cx="1975104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919" b="0" i="0">
                <a:solidFill>
                  <a:srgbClr val="5B6E82"/>
                </a:solidFill>
                <a:latin typeface="Noto Sans CJK JP"/>
              </a:defRPr>
            </a:pPr>
            <a:r>
              <a:t>Receiver・Permission・AI_1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71231" y="2231136"/>
            <a:ext cx="0" cy="3465576"/>
          </a:xfrm>
          <a:prstGeom prst="line">
            <a:avLst/>
          </a:prstGeom>
          <a:ln w="13970">
            <a:solidFill>
              <a:srgbClr val="DBE7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49156" y="1536192"/>
            <a:ext cx="2057400" cy="694944"/>
          </a:xfrm>
          <a:prstGeom prst="roundRect">
            <a:avLst>
              <a:gd name="adj" fmla="val 14000"/>
            </a:avLst>
          </a:prstGeom>
          <a:solidFill>
            <a:srgbClr val="FFF7E1"/>
          </a:solidFill>
          <a:ln w="12700">
            <a:solidFill>
              <a:srgbClr val="B57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5732" y="1600200"/>
            <a:ext cx="1984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360" b="1" i="0">
                <a:solidFill>
                  <a:srgbClr val="122E4E"/>
                </a:solidFill>
                <a:latin typeface="Noto Sans CJK JP"/>
              </a:defRPr>
            </a:pPr>
            <a:r>
              <a:t>AIR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5732" y="1883664"/>
            <a:ext cx="1984248" cy="2240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919" b="0" i="0">
                <a:solidFill>
                  <a:srgbClr val="5B6E82"/>
                </a:solidFill>
                <a:latin typeface="Noto Sans CJK JP"/>
              </a:defRPr>
            </a:pPr>
            <a:r>
              <a:t>C++ / TCP :50001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277856" y="2231136"/>
            <a:ext cx="0" cy="3465576"/>
          </a:xfrm>
          <a:prstGeom prst="line">
            <a:avLst/>
          </a:prstGeom>
          <a:ln w="13970">
            <a:solidFill>
              <a:srgbClr val="DBE7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46888" y="2322576"/>
            <a:ext cx="429768" cy="3255264"/>
          </a:xfrm>
          <a:prstGeom prst="roundRect">
            <a:avLst>
              <a:gd name="adj" fmla="val 14000"/>
            </a:avLst>
          </a:prstGeom>
          <a:solidFill>
            <a:srgbClr val="F8FBFE"/>
          </a:solidFill>
          <a:ln w="10160"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8328" y="2359152"/>
            <a:ext cx="228600" cy="228600"/>
          </a:xfrm>
          <a:prstGeom prst="ellips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9300" y="2360980"/>
            <a:ext cx="20482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850" b="1" i="0">
                <a:solidFill>
                  <a:srgbClr val="FFFFFF"/>
                </a:solidFill>
                <a:latin typeface="Noto Sans CJK JP"/>
              </a:defRPr>
            </a:pPr>
            <a:r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338328" y="2702052"/>
            <a:ext cx="228600" cy="228600"/>
          </a:xfrm>
          <a:prstGeom prst="ellips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9300" y="2703880"/>
            <a:ext cx="20482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850" b="1" i="0">
                <a:solidFill>
                  <a:srgbClr val="FFFFFF"/>
                </a:solidFill>
                <a:latin typeface="Noto Sans CJK JP"/>
              </a:defRPr>
            </a:pPr>
            <a:r>
              <a:t>2</a:t>
            </a:r>
          </a:p>
        </p:txBody>
      </p:sp>
      <p:sp>
        <p:nvSpPr>
          <p:cNvPr id="37" name="Oval 36"/>
          <p:cNvSpPr/>
          <p:nvPr/>
        </p:nvSpPr>
        <p:spPr>
          <a:xfrm>
            <a:off x="338328" y="3044952"/>
            <a:ext cx="228600" cy="228600"/>
          </a:xfrm>
          <a:prstGeom prst="ellips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9300" y="3046780"/>
            <a:ext cx="20482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850" b="1" i="0">
                <a:solidFill>
                  <a:srgbClr val="FFFFFF"/>
                </a:solidFill>
                <a:latin typeface="Noto Sans CJK JP"/>
              </a:defRPr>
            </a:pPr>
            <a:r>
              <a:t>3</a:t>
            </a:r>
          </a:p>
        </p:txBody>
      </p:sp>
      <p:sp>
        <p:nvSpPr>
          <p:cNvPr id="39" name="Oval 38"/>
          <p:cNvSpPr/>
          <p:nvPr/>
        </p:nvSpPr>
        <p:spPr>
          <a:xfrm>
            <a:off x="338328" y="3387852"/>
            <a:ext cx="228600" cy="228600"/>
          </a:xfrm>
          <a:prstGeom prst="ellips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9300" y="3389680"/>
            <a:ext cx="20482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850" b="1" i="0">
                <a:solidFill>
                  <a:srgbClr val="FFFFFF"/>
                </a:solidFill>
                <a:latin typeface="Noto Sans CJK JP"/>
              </a:defRPr>
            </a:pPr>
            <a:r>
              <a:t>4</a:t>
            </a:r>
          </a:p>
        </p:txBody>
      </p:sp>
      <p:sp>
        <p:nvSpPr>
          <p:cNvPr id="41" name="Oval 40"/>
          <p:cNvSpPr/>
          <p:nvPr/>
        </p:nvSpPr>
        <p:spPr>
          <a:xfrm>
            <a:off x="338328" y="3730752"/>
            <a:ext cx="228600" cy="228600"/>
          </a:xfrm>
          <a:prstGeom prst="ellips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9300" y="3732580"/>
            <a:ext cx="20482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850" b="1" i="0">
                <a:solidFill>
                  <a:srgbClr val="FFFFFF"/>
                </a:solidFill>
                <a:latin typeface="Noto Sans CJK JP"/>
              </a:defRPr>
            </a:pPr>
            <a:r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338328" y="4073652"/>
            <a:ext cx="228600" cy="228600"/>
          </a:xfrm>
          <a:prstGeom prst="ellips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9300" y="4075480"/>
            <a:ext cx="20482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850" b="1" i="0">
                <a:solidFill>
                  <a:srgbClr val="FFFFFF"/>
                </a:solidFill>
                <a:latin typeface="Noto Sans CJK JP"/>
              </a:defRPr>
            </a:pPr>
            <a:r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338328" y="4416552"/>
            <a:ext cx="228600" cy="228600"/>
          </a:xfrm>
          <a:prstGeom prst="ellips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9300" y="4418380"/>
            <a:ext cx="20482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850" b="1" i="0">
                <a:solidFill>
                  <a:srgbClr val="FFFFFF"/>
                </a:solidFill>
                <a:latin typeface="Noto Sans CJK JP"/>
              </a:defRPr>
            </a:pPr>
            <a:r>
              <a:t>7</a:t>
            </a:r>
          </a:p>
        </p:txBody>
      </p:sp>
      <p:sp>
        <p:nvSpPr>
          <p:cNvPr id="47" name="Oval 46"/>
          <p:cNvSpPr/>
          <p:nvPr/>
        </p:nvSpPr>
        <p:spPr>
          <a:xfrm>
            <a:off x="338328" y="4759452"/>
            <a:ext cx="228600" cy="228600"/>
          </a:xfrm>
          <a:prstGeom prst="ellips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9300" y="4761280"/>
            <a:ext cx="20482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850" b="1" i="0">
                <a:solidFill>
                  <a:srgbClr val="FFFFFF"/>
                </a:solidFill>
                <a:latin typeface="Noto Sans CJK JP"/>
              </a:defRPr>
            </a:pPr>
            <a:r>
              <a:t>8</a:t>
            </a:r>
          </a:p>
        </p:txBody>
      </p:sp>
      <p:sp>
        <p:nvSpPr>
          <p:cNvPr id="49" name="Oval 48"/>
          <p:cNvSpPr/>
          <p:nvPr/>
        </p:nvSpPr>
        <p:spPr>
          <a:xfrm>
            <a:off x="338328" y="5120640"/>
            <a:ext cx="228600" cy="228600"/>
          </a:xfrm>
          <a:prstGeom prst="ellips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9300" y="5122468"/>
            <a:ext cx="20482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850" b="1" i="0">
                <a:solidFill>
                  <a:srgbClr val="FFFFFF"/>
                </a:solidFill>
                <a:latin typeface="Noto Sans CJK JP"/>
              </a:defRPr>
            </a:pPr>
            <a:r>
              <a:t>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70681" y="2432304"/>
            <a:ext cx="89154" cy="1456182"/>
          </a:xfrm>
          <a:prstGeom prst="rect">
            <a:avLst/>
          </a:prstGeom>
          <a:solidFill>
            <a:srgbClr val="EDF5FD"/>
          </a:solidFill>
          <a:ln w="10160">
            <a:solidFill>
              <a:srgbClr val="2E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207508" y="3127248"/>
            <a:ext cx="100584" cy="420623"/>
          </a:xfrm>
          <a:prstGeom prst="rect">
            <a:avLst/>
          </a:prstGeom>
          <a:solidFill>
            <a:srgbClr val="EDF5FD"/>
          </a:solidFill>
          <a:ln w="10160">
            <a:solidFill>
              <a:srgbClr val="2E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520940" y="3813048"/>
            <a:ext cx="100584" cy="1581912"/>
          </a:xfrm>
          <a:prstGeom prst="rect">
            <a:avLst/>
          </a:prstGeom>
          <a:solidFill>
            <a:srgbClr val="E5F5F1"/>
          </a:solidFill>
          <a:ln w="10160"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227564" y="4498848"/>
            <a:ext cx="100584" cy="411480"/>
          </a:xfrm>
          <a:prstGeom prst="rect">
            <a:avLst/>
          </a:prstGeom>
          <a:solidFill>
            <a:srgbClr val="FFF5DA"/>
          </a:solidFill>
          <a:ln w="10160">
            <a:solidFill>
              <a:srgbClr val="B57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1097280" y="2468880"/>
            <a:ext cx="2112264" cy="0"/>
          </a:xfrm>
          <a:prstGeom prst="line">
            <a:avLst/>
          </a:prstGeom>
          <a:ln w="17145">
            <a:solidFill>
              <a:srgbClr val="2E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3161537" y="2420874"/>
            <a:ext cx="96012" cy="96012"/>
          </a:xfrm>
          <a:prstGeom prst="triangl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2687" y="2234793"/>
            <a:ext cx="2441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40" b="0" i="0">
                <a:solidFill>
                  <a:srgbClr val="1E354F"/>
                </a:solidFill>
                <a:latin typeface="Noto Sans CJK JP"/>
              </a:defRPr>
            </a:pPr>
            <a:r>
              <a:t>①「私の左側に来てください」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209544" y="2811780"/>
            <a:ext cx="384047" cy="0"/>
          </a:xfrm>
          <a:prstGeom prst="line">
            <a:avLst/>
          </a:prstGeom>
          <a:ln w="17780">
            <a:solidFill>
              <a:srgbClr val="2E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593591" y="2811780"/>
            <a:ext cx="0" cy="100584"/>
          </a:xfrm>
          <a:prstGeom prst="line">
            <a:avLst/>
          </a:prstGeom>
          <a:ln w="17780">
            <a:solidFill>
              <a:srgbClr val="2E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3255263" y="2912364"/>
            <a:ext cx="338328" cy="0"/>
          </a:xfrm>
          <a:prstGeom prst="line">
            <a:avLst/>
          </a:prstGeom>
          <a:ln w="17145">
            <a:solidFill>
              <a:srgbClr val="2E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16200000">
            <a:off x="3207257" y="2864358"/>
            <a:ext cx="96012" cy="96012"/>
          </a:xfrm>
          <a:prstGeom prst="triangl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090674" y="2566264"/>
            <a:ext cx="17556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980" b="0" i="0">
                <a:solidFill>
                  <a:srgbClr val="1E354F"/>
                </a:solidFill>
                <a:latin typeface="Noto Sans CJK JP"/>
              </a:defRPr>
            </a:pPr>
            <a:r>
              <a:rPr dirty="0"/>
              <a:t>② </a:t>
            </a:r>
            <a:r>
              <a:rPr dirty="0" err="1"/>
              <a:t>Whisper文字起こし</a:t>
            </a:r>
            <a:endParaRPr dirty="0"/>
          </a:p>
        </p:txBody>
      </p:sp>
      <p:cxnSp>
        <p:nvCxnSpPr>
          <p:cNvPr id="65" name="Connector 64"/>
          <p:cNvCxnSpPr/>
          <p:nvPr/>
        </p:nvCxnSpPr>
        <p:spPr>
          <a:xfrm>
            <a:off x="3209544" y="3154680"/>
            <a:ext cx="2048256" cy="0"/>
          </a:xfrm>
          <a:prstGeom prst="line">
            <a:avLst/>
          </a:prstGeom>
          <a:ln w="17145">
            <a:solidFill>
              <a:srgbClr val="2E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/>
          <p:cNvSpPr/>
          <p:nvPr/>
        </p:nvSpPr>
        <p:spPr>
          <a:xfrm rot="5400000">
            <a:off x="5209794" y="3106674"/>
            <a:ext cx="96012" cy="96012"/>
          </a:xfrm>
          <a:prstGeom prst="triangl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214116" y="2920593"/>
            <a:ext cx="20391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30" b="0" i="0">
                <a:solidFill>
                  <a:srgbClr val="1E354F"/>
                </a:solidFill>
                <a:latin typeface="Noto Sans CJK JP"/>
              </a:defRPr>
            </a:pPr>
            <a:r>
              <a:t>③ 自然言語を構造化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3209544" y="3497580"/>
            <a:ext cx="2048256" cy="0"/>
          </a:xfrm>
          <a:prstGeom prst="line">
            <a:avLst/>
          </a:prstGeom>
          <a:ln w="17145">
            <a:solidFill>
              <a:srgbClr val="2E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16200000">
            <a:off x="3161537" y="3449574"/>
            <a:ext cx="96012" cy="96012"/>
          </a:xfrm>
          <a:prstGeom prst="triangl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241548" y="3263493"/>
            <a:ext cx="19842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19" b="0" i="0">
                <a:solidFill>
                  <a:srgbClr val="1E354F"/>
                </a:solidFill>
                <a:latin typeface="Noto Sans CJK JP"/>
              </a:defRPr>
            </a:pPr>
            <a:r>
              <a:t>④ JSON: move / left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209544" y="3840480"/>
            <a:ext cx="4361687" cy="0"/>
          </a:xfrm>
          <a:prstGeom prst="line">
            <a:avLst/>
          </a:prstGeom>
          <a:ln w="17145">
            <a:solidFill>
              <a:srgbClr val="2E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Isosceles Triangle 73"/>
          <p:cNvSpPr/>
          <p:nvPr/>
        </p:nvSpPr>
        <p:spPr>
          <a:xfrm rot="5400000">
            <a:off x="7523225" y="3792474"/>
            <a:ext cx="96012" cy="96012"/>
          </a:xfrm>
          <a:prstGeom prst="triangl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355847" y="3606393"/>
            <a:ext cx="4069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10" b="0" i="0">
                <a:solidFill>
                  <a:srgbClr val="1E354F"/>
                </a:solidFill>
                <a:latin typeface="Noto Sans CJK JP"/>
              </a:defRPr>
            </a:pPr>
            <a:r>
              <a:t>⑤ action_requestを送信 [TCP :50000]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571231" y="4183380"/>
            <a:ext cx="475488" cy="0"/>
          </a:xfrm>
          <a:prstGeom prst="line">
            <a:avLst/>
          </a:prstGeom>
          <a:ln w="1778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046719" y="4183380"/>
            <a:ext cx="0" cy="100584"/>
          </a:xfrm>
          <a:prstGeom prst="line">
            <a:avLst/>
          </a:prstGeom>
          <a:ln w="1778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7616952" y="4283964"/>
            <a:ext cx="429767" cy="0"/>
          </a:xfrm>
          <a:prstGeom prst="line">
            <a:avLst/>
          </a:prstGeom>
          <a:ln w="2286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Isosceles Triangle 79"/>
          <p:cNvSpPr/>
          <p:nvPr/>
        </p:nvSpPr>
        <p:spPr>
          <a:xfrm rot="16200000">
            <a:off x="7568946" y="4235958"/>
            <a:ext cx="96012" cy="96012"/>
          </a:xfrm>
          <a:prstGeom prst="triangl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779258" y="3945636"/>
            <a:ext cx="19842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1E354F"/>
                </a:solidFill>
                <a:latin typeface="Noto Sans CJK JP"/>
              </a:defRPr>
            </a:pPr>
            <a:r>
              <a:rPr dirty="0"/>
              <a:t>⑥ </a:t>
            </a:r>
            <a:r>
              <a:rPr dirty="0" err="1"/>
              <a:t>PermissionChecker：許可</a:t>
            </a:r>
            <a:endParaRPr dirty="0"/>
          </a:p>
        </p:txBody>
      </p:sp>
      <p:cxnSp>
        <p:nvCxnSpPr>
          <p:cNvPr id="83" name="Connector 82"/>
          <p:cNvCxnSpPr/>
          <p:nvPr/>
        </p:nvCxnSpPr>
        <p:spPr>
          <a:xfrm>
            <a:off x="7571231" y="4526280"/>
            <a:ext cx="2706625" cy="0"/>
          </a:xfrm>
          <a:prstGeom prst="line">
            <a:avLst/>
          </a:prstGeom>
          <a:ln w="2286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Isosceles Triangle 83"/>
          <p:cNvSpPr/>
          <p:nvPr/>
        </p:nvSpPr>
        <p:spPr>
          <a:xfrm rot="5400000">
            <a:off x="10229850" y="4478274"/>
            <a:ext cx="96012" cy="96012"/>
          </a:xfrm>
          <a:prstGeom prst="triangl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452360" y="4292193"/>
            <a:ext cx="29443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50" b="1" i="0">
                <a:solidFill>
                  <a:srgbClr val="1E354F"/>
                </a:solidFill>
                <a:latin typeface="Noto Sans CJK JP"/>
              </a:defRPr>
            </a:pPr>
            <a:r>
              <a:t>⑦ SendHumanState(direction) [TCP :50001]</a:t>
            </a:r>
          </a:p>
        </p:txBody>
      </p:sp>
      <p:cxnSp>
        <p:nvCxnSpPr>
          <p:cNvPr id="87" name="Connector 86"/>
          <p:cNvCxnSpPr/>
          <p:nvPr/>
        </p:nvCxnSpPr>
        <p:spPr>
          <a:xfrm flipH="1">
            <a:off x="7571231" y="4869180"/>
            <a:ext cx="2706625" cy="0"/>
          </a:xfrm>
          <a:prstGeom prst="line">
            <a:avLst/>
          </a:prstGeom>
          <a:ln w="17145">
            <a:solidFill>
              <a:srgbClr val="0779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Isosceles Triangle 87"/>
          <p:cNvSpPr/>
          <p:nvPr/>
        </p:nvSpPr>
        <p:spPr>
          <a:xfrm rot="16200000">
            <a:off x="7523225" y="4821174"/>
            <a:ext cx="96012" cy="96012"/>
          </a:xfrm>
          <a:prstGeom prst="triangle">
            <a:avLst/>
          </a:prstGeom>
          <a:solidFill>
            <a:srgbClr val="077979"/>
          </a:solidFill>
          <a:ln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123175" y="4635093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980" b="0" i="0">
                <a:solidFill>
                  <a:srgbClr val="B5751E"/>
                </a:solidFill>
                <a:latin typeface="Noto Sans CJK JP"/>
              </a:defRPr>
            </a:pPr>
            <a:r>
              <a:rPr>
                <a:solidFill>
                  <a:srgbClr val="077979"/>
                </a:solidFill>
              </a:rPr>
              <a:t>⑧ 目標座標を返信（C++照合済）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571231" y="5230368"/>
            <a:ext cx="621792" cy="0"/>
          </a:xfrm>
          <a:prstGeom prst="line">
            <a:avLst/>
          </a:prstGeom>
          <a:ln w="2159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193023" y="5230368"/>
            <a:ext cx="0" cy="91439"/>
          </a:xfrm>
          <a:prstGeom prst="line">
            <a:avLst/>
          </a:prstGeom>
          <a:ln w="2159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7607807" y="5321807"/>
            <a:ext cx="585216" cy="0"/>
          </a:xfrm>
          <a:prstGeom prst="line">
            <a:avLst/>
          </a:prstGeom>
          <a:ln w="2286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Isosceles Triangle 93"/>
          <p:cNvSpPr/>
          <p:nvPr/>
        </p:nvSpPr>
        <p:spPr>
          <a:xfrm rot="16200000">
            <a:off x="7559801" y="5273801"/>
            <a:ext cx="96012" cy="96012"/>
          </a:xfrm>
          <a:prstGeom prst="triangl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289805" y="5162931"/>
            <a:ext cx="25786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40" b="1" i="0">
                <a:solidFill>
                  <a:srgbClr val="1E354F"/>
                </a:solidFill>
                <a:latin typeface="Noto Sans CJK JP"/>
              </a:defRPr>
            </a:pPr>
            <a:r>
              <a:rPr dirty="0"/>
              <a:t>⑨ UnityがAI_1の位置を更新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988552" y="5102352"/>
            <a:ext cx="2679192" cy="448056"/>
          </a:xfrm>
          <a:prstGeom prst="roundRect">
            <a:avLst>
              <a:gd name="adj" fmla="val 14000"/>
            </a:avLst>
          </a:prstGeom>
          <a:solidFill>
            <a:srgbClr val="E3F6F4"/>
          </a:solidFill>
          <a:ln w="11430"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107424" y="5143500"/>
            <a:ext cx="2432304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969" b="1" i="0">
                <a:solidFill>
                  <a:srgbClr val="077979"/>
                </a:solidFill>
                <a:latin typeface="Noto Sans CJK JP"/>
              </a:defRPr>
            </a:pPr>
            <a:r>
              <a:t>AIR：Human_1基準の目標座標計算</a:t>
            </a:r>
          </a:p>
          <a:p>
            <a:pPr algn="ctr">
              <a:spcAft>
                <a:spcPts val="0"/>
              </a:spcAft>
              <a:defRPr sz="969" b="1" i="0">
                <a:solidFill>
                  <a:srgbClr val="077979"/>
                </a:solidFill>
                <a:latin typeface="Noto Sans CJK JP"/>
              </a:defRPr>
            </a:pPr>
            <a:r>
              <a:t>Unity：返信座標でAI_1位置更新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57200" y="5769864"/>
            <a:ext cx="11228832" cy="0"/>
          </a:xfrm>
          <a:prstGeom prst="line">
            <a:avLst/>
          </a:prstGeom>
          <a:ln w="12700">
            <a:solidFill>
              <a:srgbClr val="DBE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475488" y="5888736"/>
            <a:ext cx="5349240" cy="640080"/>
          </a:xfrm>
          <a:prstGeom prst="roundRect">
            <a:avLst>
              <a:gd name="adj" fmla="val 14000"/>
            </a:avLst>
          </a:prstGeom>
          <a:solidFill>
            <a:srgbClr val="E3F6F4"/>
          </a:solidFill>
          <a:ln w="10160">
            <a:solidFill>
              <a:srgbClr val="C9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594360" y="5971032"/>
            <a:ext cx="704088" cy="219456"/>
          </a:xfrm>
          <a:prstGeom prst="roundRect">
            <a:avLst>
              <a:gd name="adj" fmla="val 14000"/>
            </a:avLst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17220" y="5967374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00" b="1" i="0">
                <a:solidFill>
                  <a:srgbClr val="FFFFFF"/>
                </a:solidFill>
                <a:latin typeface="Noto Sans CJK JP"/>
              </a:defRPr>
            </a:pPr>
            <a:r>
              <a:t>実測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08176" y="5939028"/>
            <a:ext cx="42245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30" b="0" i="0">
                <a:solidFill>
                  <a:srgbClr val="1E354F"/>
                </a:solidFill>
                <a:latin typeface="Noto Sans CJK JP"/>
              </a:defRPr>
            </a:pPr>
            <a:r>
              <a:t>音声入力 → AIR Manager経由 → AI_1移動が成立</a:t>
            </a:r>
          </a:p>
          <a:p>
            <a:pPr algn="l">
              <a:spcAft>
                <a:spcPts val="0"/>
              </a:spcAft>
              <a:defRPr sz="1030" b="0" i="0">
                <a:solidFill>
                  <a:srgbClr val="1E354F"/>
                </a:solidFill>
                <a:latin typeface="Noto Sans CJK JP"/>
              </a:defRPr>
            </a:pPr>
            <a:r>
              <a:t>受信表示だけでなく、AI_1の実移動を確認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016752" y="5888736"/>
            <a:ext cx="5650992" cy="640080"/>
          </a:xfrm>
          <a:prstGeom prst="roundRect">
            <a:avLst>
              <a:gd name="adj" fmla="val 14000"/>
            </a:avLst>
          </a:prstGeom>
          <a:solidFill>
            <a:srgbClr val="E3F6F4"/>
          </a:solidFill>
          <a:ln w="10160">
            <a:solidFill>
              <a:srgbClr val="F3D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6126480" y="5971032"/>
            <a:ext cx="1033271" cy="219456"/>
          </a:xfrm>
          <a:prstGeom prst="roundRect">
            <a:avLst>
              <a:gd name="adj" fmla="val 14000"/>
            </a:avLst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153912" y="596737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defRPr sz="1000" b="1" i="0">
                <a:solidFill>
                  <a:srgbClr val="FFFFFF"/>
                </a:solidFill>
                <a:latin typeface="Noto Sans CJK JP"/>
              </a:defRPr>
            </a:pPr>
            <a:r>
              <a:rPr>
                <a:solidFill>
                  <a:srgbClr val="FFFFFF"/>
                </a:solidFill>
              </a:rPr>
              <a:t>コード照合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69480" y="5939028"/>
            <a:ext cx="42153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E354F"/>
                </a:solidFill>
                <a:latin typeface="Noto Sans CJK JP"/>
              </a:defRPr>
            </a:pPr>
            <a:r>
              <a:t>Unity→AIR：位置x/y/z・yaw・方向を送信</a:t>
            </a:r>
          </a:p>
          <a:p>
            <a:pPr algn="l">
              <a:spcAft>
                <a:spcPts val="0"/>
              </a:spcAft>
              <a:defRPr sz="1000" b="0" i="0">
                <a:solidFill>
                  <a:srgbClr val="1E354F"/>
                </a:solidFill>
                <a:latin typeface="Noto Sans CJK JP"/>
              </a:defRPr>
            </a:pPr>
            <a:r>
              <a:t>AIR→Unity：目標座標JSONを返信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12064" y="6601968"/>
            <a:ext cx="11100816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defRPr sz="844" b="0" i="0">
                <a:solidFill>
                  <a:srgbClr val="5B6E82"/>
                </a:solidFill>
                <a:latin typeface="Noto Sans CJK JP"/>
              </a:defRPr>
            </a:pPr>
            <a:r>
              <a:t>注：⑦〜⑨はC#・C++ソースで照合済み。AIR Managerは座標を算出・返信し、UnityがAI_1の位置を更新する。⑩〜⑫は2枚目。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283464"/>
            <a:ext cx="91440" cy="402336"/>
          </a:xfrm>
          <a:prstGeom prst="rect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228600"/>
            <a:ext cx="1110996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80" b="1">
                <a:solidFill>
                  <a:srgbClr val="122E4E"/>
                </a:solidFill>
                <a:latin typeface="Noto Sans CJK JP"/>
              </a:defRPr>
            </a:pPr>
            <a:r>
              <a:t>AI_1移動後：Verification・Human Evaluation・Experience記録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B6E82"/>
                </a:solidFill>
                <a:latin typeface="Noto Sans CJK JP"/>
              </a:defRPr>
            </a:pPr>
            <a:r>
              <a:t>CH12 §10.8  |  UMLシーケンス図（続編 ⑩〜⑫）  |  実機検証：2026-10-31 23:53 JST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" y="1097280"/>
            <a:ext cx="11237976" cy="0"/>
          </a:xfrm>
          <a:prstGeom prst="line">
            <a:avLst/>
          </a:prstGeom>
          <a:ln w="12700">
            <a:solidFill>
              <a:srgbClr val="DF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80960" y="1207008"/>
            <a:ext cx="1938528" cy="265176"/>
          </a:xfrm>
          <a:prstGeom prst="roundRect">
            <a:avLst>
              <a:gd name="adj" fmla="val 13000"/>
            </a:avLst>
          </a:prstGeom>
          <a:solidFill>
            <a:srgbClr val="E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5824" y="1216152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0" b="1">
                <a:solidFill>
                  <a:srgbClr val="077979"/>
                </a:solidFill>
                <a:latin typeface="Noto Sans CJK JP"/>
              </a:defRPr>
            </a:pPr>
            <a:r>
              <a:t>実線：コード照合済み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1207008"/>
            <a:ext cx="1938528" cy="265176"/>
          </a:xfrm>
          <a:prstGeom prst="roundRect">
            <a:avLst>
              <a:gd name="adj" fmla="val 13000"/>
            </a:avLst>
          </a:prstGeom>
          <a:solidFill>
            <a:srgbClr val="FF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93224" y="1216152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5751E"/>
                </a:solidFill>
                <a:latin typeface="Noto Sans CJK JP"/>
              </a:defRPr>
            </a:pPr>
            <a:r>
              <a:t>右方向：実機確認済み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" y="1600200"/>
            <a:ext cx="1700784" cy="704088"/>
          </a:xfrm>
          <a:prstGeom prst="roundRect">
            <a:avLst>
              <a:gd name="adj" fmla="val 13000"/>
            </a:avLst>
          </a:prstGeom>
          <a:solidFill>
            <a:srgbClr val="EDF5FD"/>
          </a:solidFill>
          <a:ln w="15240">
            <a:solidFill>
              <a:srgbClr val="2E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" y="1636776"/>
            <a:ext cx="16642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22E4E"/>
                </a:solidFill>
                <a:latin typeface="Noto Sans CJK JP"/>
              </a:defRPr>
            </a:pPr>
            <a:r>
              <a:t>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1947672"/>
            <a:ext cx="1664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B6E82"/>
                </a:solidFill>
                <a:latin typeface="Noto Sans CJK JP"/>
              </a:defRPr>
            </a:pPr>
            <a:r>
              <a:t>TcpSpeechReceiver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1600200"/>
            <a:ext cx="1700784" cy="704088"/>
          </a:xfrm>
          <a:prstGeom prst="roundRect">
            <a:avLst>
              <a:gd name="adj" fmla="val 13000"/>
            </a:avLst>
          </a:prstGeom>
          <a:solidFill>
            <a:srgbClr val="E3F6F4"/>
          </a:solidFill>
          <a:ln w="15240"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04288" y="1636776"/>
            <a:ext cx="16642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22E4E"/>
                </a:solidFill>
                <a:latin typeface="Noto Sans CJK JP"/>
              </a:defRPr>
            </a:pPr>
            <a:r>
              <a:t>ActionVerifier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1947672"/>
            <a:ext cx="1664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B6E82"/>
                </a:solidFill>
                <a:latin typeface="Noto Sans CJK JP"/>
              </a:defRPr>
            </a:pPr>
            <a:r>
              <a:t>期待位置／位置誤差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15384" y="1600200"/>
            <a:ext cx="1700784" cy="704088"/>
          </a:xfrm>
          <a:prstGeom prst="roundRect">
            <a:avLst>
              <a:gd name="adj" fmla="val 13000"/>
            </a:avLst>
          </a:prstGeom>
          <a:solidFill>
            <a:srgbClr val="E3F6F4"/>
          </a:solidFill>
          <a:ln w="15240"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33672" y="1636776"/>
            <a:ext cx="16642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22E4E"/>
                </a:solidFill>
                <a:latin typeface="Noto Sans CJK JP"/>
              </a:defRPr>
            </a:pPr>
            <a:r>
              <a:t>HumanEvaluator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1947672"/>
            <a:ext cx="1664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B6E82"/>
                </a:solidFill>
                <a:latin typeface="Noto Sans CJK JP"/>
              </a:defRPr>
            </a:pPr>
            <a:r>
              <a:t>評価待ち・Y/N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1600200"/>
            <a:ext cx="1700784" cy="704088"/>
          </a:xfrm>
          <a:prstGeom prst="roundRect">
            <a:avLst>
              <a:gd name="adj" fmla="val 13000"/>
            </a:avLst>
          </a:prstGeom>
          <a:solidFill>
            <a:srgbClr val="EDF5FD"/>
          </a:solidFill>
          <a:ln w="15240">
            <a:solidFill>
              <a:srgbClr val="2E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53912" y="1636776"/>
            <a:ext cx="16642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22E4E"/>
                </a:solidFill>
                <a:latin typeface="Noto Sans CJK JP"/>
              </a:defRPr>
            </a:pPr>
            <a:r>
              <a:t>利用者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1947672"/>
            <a:ext cx="1664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B6E82"/>
                </a:solidFill>
                <a:latin typeface="Noto Sans CJK JP"/>
              </a:defRPr>
            </a:pPr>
            <a:r>
              <a:t>Y / N キー入力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600200"/>
            <a:ext cx="1700784" cy="704088"/>
          </a:xfrm>
          <a:prstGeom prst="roundRect">
            <a:avLst>
              <a:gd name="adj" fmla="val 13000"/>
            </a:avLst>
          </a:prstGeom>
          <a:solidFill>
            <a:srgbClr val="E3F6F4"/>
          </a:solidFill>
          <a:ln w="15240"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65008" y="1636776"/>
            <a:ext cx="16642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22E4E"/>
                </a:solidFill>
                <a:latin typeface="Noto Sans CJK JP"/>
              </a:defRPr>
            </a:pPr>
            <a:r>
              <a:t>ExperienceLogger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1947672"/>
            <a:ext cx="1664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B6E82"/>
                </a:solidFill>
                <a:latin typeface="Noto Sans CJK JP"/>
              </a:defRPr>
            </a:pPr>
            <a:r>
              <a:t>JSONLへの追記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1600200"/>
            <a:ext cx="1700784" cy="704088"/>
          </a:xfrm>
          <a:prstGeom prst="roundRect">
            <a:avLst>
              <a:gd name="adj" fmla="val 13000"/>
            </a:avLst>
          </a:prstGeom>
          <a:solidFill>
            <a:srgbClr val="FFF7E1"/>
          </a:solidFill>
          <a:ln w="15240">
            <a:solidFill>
              <a:srgbClr val="B57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39528" y="1636776"/>
            <a:ext cx="16642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22E4E"/>
                </a:solidFill>
                <a:latin typeface="Noto Sans CJK JP"/>
              </a:defRPr>
            </a:pPr>
            <a:r>
              <a:t>experience.jsonl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1947672"/>
            <a:ext cx="166420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B6E82"/>
                </a:solidFill>
                <a:latin typeface="Noto Sans CJK JP"/>
              </a:defRPr>
            </a:pPr>
            <a:r>
              <a:t>Portable / tmp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5062" y="2651760"/>
            <a:ext cx="80467" cy="310896"/>
          </a:xfrm>
          <a:prstGeom prst="rect">
            <a:avLst/>
          </a:prstGeom>
          <a:solidFill>
            <a:srgbClr val="E3F6F4"/>
          </a:solidFill>
          <a:ln w="10160"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96158" y="2651760"/>
            <a:ext cx="80467" cy="896112"/>
          </a:xfrm>
          <a:prstGeom prst="rect">
            <a:avLst/>
          </a:prstGeom>
          <a:solidFill>
            <a:srgbClr val="E3F6F4"/>
          </a:solidFill>
          <a:ln w="10160"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5542" y="3529584"/>
            <a:ext cx="80467" cy="1371600"/>
          </a:xfrm>
          <a:prstGeom prst="rect">
            <a:avLst/>
          </a:prstGeom>
          <a:solidFill>
            <a:srgbClr val="E3F6F4"/>
          </a:solidFill>
          <a:ln w="10160"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945782" y="4078224"/>
            <a:ext cx="80467" cy="722376"/>
          </a:xfrm>
          <a:prstGeom prst="rect">
            <a:avLst/>
          </a:prstGeom>
          <a:solidFill>
            <a:srgbClr val="EDF5FD"/>
          </a:solidFill>
          <a:ln w="10160">
            <a:solidFill>
              <a:srgbClr val="2E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856878" y="5010912"/>
            <a:ext cx="80467" cy="530352"/>
          </a:xfrm>
          <a:prstGeom prst="rect">
            <a:avLst/>
          </a:prstGeom>
          <a:solidFill>
            <a:srgbClr val="E3F6F4"/>
          </a:solidFill>
          <a:ln w="10160">
            <a:solidFill>
              <a:srgbClr val="07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731398" y="5468112"/>
            <a:ext cx="80467" cy="237744"/>
          </a:xfrm>
          <a:prstGeom prst="rect">
            <a:avLst/>
          </a:prstGeom>
          <a:solidFill>
            <a:srgbClr val="EDF5FD"/>
          </a:solidFill>
          <a:ln w="10160">
            <a:solidFill>
              <a:srgbClr val="B57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7512" y="2450592"/>
            <a:ext cx="11082528" cy="932688"/>
          </a:xfrm>
          <a:prstGeom prst="roundRect">
            <a:avLst>
              <a:gd name="adj" fmla="val 13000"/>
            </a:avLst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67512" y="3474720"/>
            <a:ext cx="11082528" cy="1344168"/>
          </a:xfrm>
          <a:prstGeom prst="roundRect">
            <a:avLst>
              <a:gd name="adj" fmla="val 13000"/>
            </a:avLst>
          </a:prstGeom>
          <a:solidFill>
            <a:srgbClr val="F7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67512" y="4892040"/>
            <a:ext cx="11082528" cy="813816"/>
          </a:xfrm>
          <a:prstGeom prst="roundRect">
            <a:avLst>
              <a:gd name="adj" fmla="val 13000"/>
            </a:avLst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38328" y="2569464"/>
            <a:ext cx="246888" cy="246888"/>
          </a:xfrm>
          <a:prstGeom prst="ellipse">
            <a:avLst/>
          </a:prstGeom>
          <a:solidFill>
            <a:srgbClr val="2E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3814" y="2574036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10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225296" y="2724912"/>
            <a:ext cx="1911096" cy="0"/>
          </a:xfrm>
          <a:prstGeom prst="line">
            <a:avLst/>
          </a:prstGeom>
          <a:ln w="1778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3093415" y="2682849"/>
            <a:ext cx="86868" cy="86868"/>
          </a:xfrm>
          <a:prstGeom prst="triangl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298448" y="249631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1E354F"/>
                </a:solidFill>
                <a:latin typeface="Noto Sans CJK JP"/>
              </a:defRPr>
            </a:pPr>
            <a:r>
              <a:t>⑩ VerifyPosition(request)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136392" y="3054096"/>
            <a:ext cx="484632" cy="0"/>
          </a:xfrm>
          <a:prstGeom prst="line">
            <a:avLst/>
          </a:prstGeom>
          <a:ln w="1778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621024" y="3054096"/>
            <a:ext cx="0" cy="228600"/>
          </a:xfrm>
          <a:prstGeom prst="line">
            <a:avLst/>
          </a:prstGeom>
          <a:ln w="1778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cxnSpLocks/>
          </p:cNvCxnSpPr>
          <p:nvPr/>
        </p:nvCxnSpPr>
        <p:spPr>
          <a:xfrm flipV="1">
            <a:off x="3118104" y="3282696"/>
            <a:ext cx="502920" cy="5184"/>
          </a:xfrm>
          <a:prstGeom prst="line">
            <a:avLst/>
          </a:prstGeom>
          <a:ln w="17780">
            <a:solidFill>
              <a:srgbClr val="077979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297935" y="2816352"/>
            <a:ext cx="4526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E354F"/>
                </a:solidFill>
                <a:latin typeface="Noto Sans CJK JP"/>
              </a:defRPr>
            </a:pPr>
            <a:r>
              <a:rPr dirty="0" err="1"/>
              <a:t>期待位置</a:t>
            </a:r>
            <a:r>
              <a:rPr dirty="0"/>
              <a:t> = Human_1位置 + 方向×1.0   /   </a:t>
            </a:r>
            <a:r>
              <a:rPr dirty="0" err="1"/>
              <a:t>誤差</a:t>
            </a:r>
            <a:r>
              <a:rPr dirty="0"/>
              <a:t> =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85627" y="3176625"/>
            <a:ext cx="2487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077979"/>
                </a:solidFill>
                <a:latin typeface="Noto Sans CJK JP"/>
              </a:defRPr>
            </a:pPr>
            <a:r>
              <a:rPr dirty="0" err="1"/>
              <a:t>PASS：誤差</a:t>
            </a:r>
            <a:r>
              <a:rPr dirty="0"/>
              <a:t> ≤ 0.05</a:t>
            </a:r>
          </a:p>
        </p:txBody>
      </p:sp>
      <p:sp>
        <p:nvSpPr>
          <p:cNvPr id="56" name="Oval 55"/>
          <p:cNvSpPr/>
          <p:nvPr/>
        </p:nvSpPr>
        <p:spPr>
          <a:xfrm>
            <a:off x="338328" y="3557015"/>
            <a:ext cx="246888" cy="246888"/>
          </a:xfrm>
          <a:prstGeom prst="ellips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3814" y="3561587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11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136392" y="3685032"/>
            <a:ext cx="1929384" cy="0"/>
          </a:xfrm>
          <a:prstGeom prst="line">
            <a:avLst/>
          </a:prstGeom>
          <a:ln w="1778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5022799" y="3642969"/>
            <a:ext cx="86868" cy="86868"/>
          </a:xfrm>
          <a:prstGeom prst="triangl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18104" y="3465576"/>
            <a:ext cx="1911095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40" b="1">
                <a:solidFill>
                  <a:srgbClr val="1E354F"/>
                </a:solidFill>
                <a:latin typeface="Noto Sans CJK JP"/>
              </a:defRPr>
            </a:pPr>
            <a:r>
              <a:t>⑪ StartEvaluation(...)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065776" y="4187952"/>
            <a:ext cx="1920240" cy="0"/>
          </a:xfrm>
          <a:prstGeom prst="line">
            <a:avLst/>
          </a:prstGeom>
          <a:ln w="17780">
            <a:solidFill>
              <a:srgbClr val="2E6F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029199" y="3936492"/>
            <a:ext cx="185623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354F"/>
                </a:solidFill>
                <a:latin typeface="Noto Sans CJK JP"/>
              </a:defRPr>
            </a:pPr>
            <a:r>
              <a:t>Y/Nの評価を要求</a:t>
            </a:r>
          </a:p>
        </p:txBody>
      </p:sp>
      <p:cxnSp>
        <p:nvCxnSpPr>
          <p:cNvPr id="64" name="Connector 63"/>
          <p:cNvCxnSpPr/>
          <p:nvPr/>
        </p:nvCxnSpPr>
        <p:spPr>
          <a:xfrm flipH="1">
            <a:off x="5065776" y="4663440"/>
            <a:ext cx="1920240" cy="0"/>
          </a:xfrm>
          <a:prstGeom prst="line">
            <a:avLst/>
          </a:prstGeom>
          <a:ln w="17780">
            <a:solidFill>
              <a:srgbClr val="2E6F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11496" y="4425696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7979"/>
                </a:solidFill>
                <a:latin typeface="Noto Sans CJK JP"/>
              </a:defRPr>
            </a:pPr>
            <a:r>
              <a:t>Y = correct（実測）</a:t>
            </a:r>
          </a:p>
        </p:txBody>
      </p:sp>
      <p:sp>
        <p:nvSpPr>
          <p:cNvPr id="67" name="Oval 66"/>
          <p:cNvSpPr/>
          <p:nvPr/>
        </p:nvSpPr>
        <p:spPr>
          <a:xfrm>
            <a:off x="338328" y="5047488"/>
            <a:ext cx="246888" cy="246888"/>
          </a:xfrm>
          <a:prstGeom prst="ellips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43814" y="5052059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12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065776" y="5129784"/>
            <a:ext cx="3831336" cy="0"/>
          </a:xfrm>
          <a:prstGeom prst="line">
            <a:avLst/>
          </a:prstGeom>
          <a:ln w="1778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5400000">
            <a:off x="8854135" y="5087721"/>
            <a:ext cx="86868" cy="86868"/>
          </a:xfrm>
          <a:prstGeom prst="triangl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175504" y="491032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0" b="1">
                <a:solidFill>
                  <a:srgbClr val="1E354F"/>
                </a:solidFill>
                <a:latin typeface="Noto Sans CJK JP"/>
              </a:defRPr>
            </a:pPr>
            <a:r>
              <a:t>⑫ SaveExperience(request, 0, true, "correct")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897112" y="5532120"/>
            <a:ext cx="1874520" cy="0"/>
          </a:xfrm>
          <a:prstGeom prst="line">
            <a:avLst/>
          </a:prstGeom>
          <a:ln w="17780">
            <a:solidFill>
              <a:srgbClr val="077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 rot="5400000">
            <a:off x="10728655" y="5490057"/>
            <a:ext cx="86868" cy="86868"/>
          </a:xfrm>
          <a:prstGeom prst="triangle">
            <a:avLst/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42248" y="531266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0" b="1">
                <a:solidFill>
                  <a:srgbClr val="077979"/>
                </a:solidFill>
                <a:latin typeface="Noto Sans CJK JP"/>
              </a:defRPr>
            </a:pPr>
            <a:r>
              <a:t>JSONLへ1行追記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66344" y="5769864"/>
            <a:ext cx="11219688" cy="0"/>
          </a:xfrm>
          <a:prstGeom prst="line">
            <a:avLst/>
          </a:prstGeom>
          <a:ln w="12700">
            <a:solidFill>
              <a:srgbClr val="DF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475488" y="5879592"/>
            <a:ext cx="5577840" cy="658368"/>
          </a:xfrm>
          <a:prstGeom prst="roundRect">
            <a:avLst>
              <a:gd name="adj" fmla="val 13000"/>
            </a:avLst>
          </a:prstGeom>
          <a:solidFill>
            <a:srgbClr val="E3F6F4"/>
          </a:solidFill>
          <a:ln w="10160">
            <a:solidFill>
              <a:srgbClr val="BB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594360" y="5980176"/>
            <a:ext cx="704088" cy="228600"/>
          </a:xfrm>
          <a:prstGeom prst="roundRect">
            <a:avLst>
              <a:gd name="adj" fmla="val 13000"/>
            </a:avLst>
          </a:prstGeom>
          <a:solidFill>
            <a:srgbClr val="07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16305" y="5980176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Noto Sans CJK JP"/>
              </a:defRPr>
            </a:pPr>
            <a:r>
              <a:t>実測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26464" y="5907024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5" b="0">
                <a:solidFill>
                  <a:srgbClr val="1E354F"/>
                </a:solidFill>
                <a:latin typeface="Noto Sans CJK JP"/>
              </a:defRPr>
            </a:pPr>
            <a:r>
              <a:t>right / Error=0 / Verification=PASS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15" b="0">
                <a:solidFill>
                  <a:srgbClr val="1E354F"/>
                </a:solidFill>
                <a:latin typeface="Noto Sans CJK JP"/>
              </a:defRPr>
            </a:pPr>
            <a:r>
              <a:t>Y=correct → JSONL 3件から4件へ（23:53:33）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99632" y="5879592"/>
            <a:ext cx="5468112" cy="658368"/>
          </a:xfrm>
          <a:prstGeom prst="roundRect">
            <a:avLst>
              <a:gd name="adj" fmla="val 13000"/>
            </a:avLst>
          </a:prstGeom>
          <a:solidFill>
            <a:srgbClr val="FFF7E1"/>
          </a:solidFill>
          <a:ln w="10160">
            <a:solidFill>
              <a:srgbClr val="EAD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318504" y="5980176"/>
            <a:ext cx="822960" cy="228600"/>
          </a:xfrm>
          <a:prstGeom prst="roundRect">
            <a:avLst>
              <a:gd name="adj" fmla="val 13000"/>
            </a:avLst>
          </a:prstGeom>
          <a:solidFill>
            <a:srgbClr val="B57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336792" y="5980176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Noto Sans CJK JP"/>
              </a:defRPr>
            </a:pPr>
            <a:r>
              <a:t>未検証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60336" y="5907024"/>
            <a:ext cx="431596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5" b="0">
                <a:solidFill>
                  <a:srgbClr val="1E354F"/>
                </a:solidFill>
                <a:latin typeface="Noto Sans CJK JP"/>
              </a:defRPr>
            </a:pPr>
            <a:r>
              <a:t>FAIL / incorrect / 通信失敗時の保存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15" b="0">
                <a:solidFill>
                  <a:srgbClr val="1E354F"/>
                </a:solidFill>
                <a:latin typeface="Noto Sans CJK JP"/>
              </a:defRPr>
            </a:pPr>
            <a:r>
              <a:t>送信成功ACKの独立判定は未実装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6601968"/>
            <a:ext cx="11247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5B6E82"/>
                </a:solidFill>
                <a:latin typeface="Noto Sans CJK JP"/>
              </a:defRPr>
            </a:pPr>
            <a:r>
              <a:t>注：実測は成功ケース1件。10月2日の既存3記録は保持。AIR経由の移動・検証・評価・保存を区別し、実行ファイルと提示ソースの厳密な同一性は未確認。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25296" y="2313432"/>
            <a:ext cx="0" cy="3392424"/>
          </a:xfrm>
          <a:prstGeom prst="line">
            <a:avLst/>
          </a:prstGeom>
          <a:ln w="12700">
            <a:solidFill>
              <a:srgbClr val="DF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36392" y="2313432"/>
            <a:ext cx="0" cy="3392424"/>
          </a:xfrm>
          <a:prstGeom prst="line">
            <a:avLst/>
          </a:prstGeom>
          <a:ln w="12700">
            <a:solidFill>
              <a:srgbClr val="DF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65776" y="2313432"/>
            <a:ext cx="0" cy="3392424"/>
          </a:xfrm>
          <a:prstGeom prst="line">
            <a:avLst/>
          </a:prstGeom>
          <a:ln w="12700">
            <a:solidFill>
              <a:srgbClr val="DF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86016" y="2313432"/>
            <a:ext cx="0" cy="3392424"/>
          </a:xfrm>
          <a:prstGeom prst="line">
            <a:avLst/>
          </a:prstGeom>
          <a:ln w="12700">
            <a:solidFill>
              <a:srgbClr val="DF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97112" y="2313432"/>
            <a:ext cx="0" cy="3392424"/>
          </a:xfrm>
          <a:prstGeom prst="line">
            <a:avLst/>
          </a:prstGeom>
          <a:ln w="12700">
            <a:solidFill>
              <a:srgbClr val="DF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771632" y="2313432"/>
            <a:ext cx="0" cy="3392424"/>
          </a:xfrm>
          <a:prstGeom prst="line">
            <a:avLst/>
          </a:prstGeom>
          <a:ln w="12700">
            <a:solidFill>
              <a:srgbClr val="DF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385</Words>
  <Application>Microsoft Office PowerPoint</Application>
  <PresentationFormat>ワイド画面</PresentationFormat>
  <Paragraphs>75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Managerとの位置情報授受とUnity AI_1移動 — UMLシーケンス図</dc:title>
  <dc:subject>AI_MR_Sandbox CH12 E2E runtime validation</dc:subject>
  <dc:creator>ChatGPT</dc:creator>
  <cp:keywords>Unity, AIRManager, Whisper, Qwen3, sequence diagram, MR</cp:keywords>
  <dc:description>generated using python-pptx</dc:description>
  <cp:lastModifiedBy>大島 登志一(ohshimat)</cp:lastModifiedBy>
  <cp:revision>3</cp:revision>
  <dcterms:created xsi:type="dcterms:W3CDTF">2013-01-27T09:14:16Z</dcterms:created>
  <dcterms:modified xsi:type="dcterms:W3CDTF">2026-10-31T15:54:26Z</dcterms:modified>
  <cp:category/>
</cp:coreProperties>
</file>