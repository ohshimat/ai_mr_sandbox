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4" d="100"/>
          <a:sy n="104" d="100"/>
        </p:scale>
        <p:origin x="-1403" y="-60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" cy="6858000"/>
          </a:xfrm>
          <a:prstGeom prst="rect">
            <a:avLst/>
          </a:prstGeom>
          <a:solidFill>
            <a:srgbClr val="122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283464"/>
            <a:ext cx="91440" cy="402336"/>
          </a:xfrm>
          <a:prstGeom prst="rect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76072" y="246888"/>
            <a:ext cx="11018520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2380" b="1" i="0">
                <a:solidFill>
                  <a:srgbClr val="122E4E"/>
                </a:solidFill>
                <a:latin typeface="Noto Sans CJK JP"/>
              </a:defRPr>
            </a:pPr>
            <a:r>
              <a:t>音声命令からAI_1移動まで：AIR Managerとの座標授受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49808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110" b="0" i="0">
                <a:solidFill>
                  <a:srgbClr val="5B6E82"/>
                </a:solidFill>
                <a:latin typeface="Noto Sans CJK JP"/>
              </a:defRPr>
            </a:pPr>
            <a:r>
              <a:t>CH12 実機再現性検証  |  UMLシーケンス図相当  |  公式基準版 Unity: MREAL_OpenXR_Sample6_Haptic_Sandbox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" y="1097280"/>
            <a:ext cx="11256264" cy="0"/>
          </a:xfrm>
          <a:prstGeom prst="line">
            <a:avLst/>
          </a:prstGeom>
          <a:ln w="12700">
            <a:solidFill>
              <a:srgbClr val="DBE7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470648" y="1170432"/>
            <a:ext cx="1892807" cy="256032"/>
          </a:xfrm>
          <a:prstGeom prst="roundRect">
            <a:avLst>
              <a:gd name="adj" fmla="val 14000"/>
            </a:avLst>
          </a:prstGeom>
          <a:solidFill>
            <a:srgbClr val="E3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71231" y="1175918"/>
            <a:ext cx="1719072" cy="2331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30" b="1" i="0">
                <a:solidFill>
                  <a:srgbClr val="077979"/>
                </a:solidFill>
                <a:latin typeface="Noto Sans CJK JP"/>
              </a:defRPr>
            </a:pPr>
            <a:r>
              <a:t>実線：観測した接続・実行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91472" y="1170432"/>
            <a:ext cx="2103120" cy="256032"/>
          </a:xfrm>
          <a:prstGeom prst="roundRect">
            <a:avLst>
              <a:gd name="adj" fmla="val 14000"/>
            </a:avLst>
          </a:prstGeom>
          <a:solidFill>
            <a:srgbClr val="FFF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55480" y="1175918"/>
            <a:ext cx="1956816" cy="2331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15" b="1" i="0">
                <a:solidFill>
                  <a:srgbClr val="B5751E"/>
                </a:solidFill>
                <a:latin typeface="Noto Sans CJK JP"/>
              </a:defRPr>
            </a:pPr>
            <a:r>
              <a:t>破線：内部仕様は要コード照合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19" y="1536192"/>
            <a:ext cx="1417320" cy="694944"/>
          </a:xfrm>
          <a:prstGeom prst="roundRect">
            <a:avLst>
              <a:gd name="adj" fmla="val 14000"/>
            </a:avLst>
          </a:prstGeom>
          <a:solidFill>
            <a:srgbClr val="EDF5FD"/>
          </a:solidFill>
          <a:ln w="12700">
            <a:solidFill>
              <a:srgbClr val="2E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5" y="1600200"/>
            <a:ext cx="134416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60" b="1" i="0">
                <a:solidFill>
                  <a:srgbClr val="122E4E"/>
                </a:solidFill>
                <a:latin typeface="Noto Sans CJK JP"/>
              </a:defRPr>
            </a:pPr>
            <a:r>
              <a:t>利用者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" y="1883664"/>
            <a:ext cx="1344168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19" b="0" i="0">
                <a:solidFill>
                  <a:srgbClr val="5B6E82"/>
                </a:solidFill>
                <a:latin typeface="Noto Sans CJK JP"/>
              </a:defRPr>
            </a:pPr>
            <a:r>
              <a:t>発話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2231136"/>
            <a:ext cx="0" cy="3465576"/>
          </a:xfrm>
          <a:prstGeom prst="line">
            <a:avLst/>
          </a:prstGeom>
          <a:ln w="13970">
            <a:solidFill>
              <a:srgbClr val="DBE7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81428" y="1536192"/>
            <a:ext cx="1856231" cy="694944"/>
          </a:xfrm>
          <a:prstGeom prst="roundRect">
            <a:avLst>
              <a:gd name="adj" fmla="val 14000"/>
            </a:avLst>
          </a:prstGeom>
          <a:solidFill>
            <a:srgbClr val="EDF5FD"/>
          </a:solidFill>
          <a:ln w="12700">
            <a:solidFill>
              <a:srgbClr val="2E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18004" y="1600200"/>
            <a:ext cx="1783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60" b="1" i="0">
                <a:solidFill>
                  <a:srgbClr val="122E4E"/>
                </a:solidFill>
                <a:latin typeface="Noto Sans CJK JP"/>
              </a:defRPr>
            </a:pPr>
            <a:r>
              <a:t>Python 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18004" y="1883664"/>
            <a:ext cx="1783079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19" b="0" i="0">
                <a:solidFill>
                  <a:srgbClr val="5B6E82"/>
                </a:solidFill>
                <a:latin typeface="Noto Sans CJK JP"/>
              </a:defRPr>
            </a:pPr>
            <a:r>
              <a:t>Whisper / 音声・JSON処理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9544" y="2231136"/>
            <a:ext cx="0" cy="3465576"/>
          </a:xfrm>
          <a:prstGeom prst="line">
            <a:avLst/>
          </a:prstGeom>
          <a:ln w="13970">
            <a:solidFill>
              <a:srgbClr val="DBE7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2836" y="1536192"/>
            <a:ext cx="1709928" cy="694944"/>
          </a:xfrm>
          <a:prstGeom prst="roundRect">
            <a:avLst>
              <a:gd name="adj" fmla="val 14000"/>
            </a:avLst>
          </a:prstGeom>
          <a:solidFill>
            <a:srgbClr val="EDF5FD"/>
          </a:solidFill>
          <a:ln w="12700">
            <a:solidFill>
              <a:srgbClr val="2E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39412" y="1600200"/>
            <a:ext cx="163677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60" b="1" i="0">
                <a:solidFill>
                  <a:srgbClr val="122E4E"/>
                </a:solidFill>
                <a:latin typeface="Noto Sans CJK JP"/>
              </a:defRPr>
            </a:pPr>
            <a:r>
              <a:t>Ollama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9412" y="1883664"/>
            <a:ext cx="1636776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19" b="0" i="0">
                <a:solidFill>
                  <a:srgbClr val="5B6E82"/>
                </a:solidFill>
                <a:latin typeface="Noto Sans CJK JP"/>
              </a:defRPr>
            </a:pPr>
            <a:r>
              <a:t>Qwen3:8b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257800" y="2231136"/>
            <a:ext cx="0" cy="3465576"/>
          </a:xfrm>
          <a:prstGeom prst="line">
            <a:avLst/>
          </a:prstGeom>
          <a:ln w="13970">
            <a:solidFill>
              <a:srgbClr val="DBE7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47103" y="1536192"/>
            <a:ext cx="2048256" cy="694944"/>
          </a:xfrm>
          <a:prstGeom prst="roundRect">
            <a:avLst>
              <a:gd name="adj" fmla="val 14000"/>
            </a:avLst>
          </a:prstGeom>
          <a:solidFill>
            <a:srgbClr val="E3F6F4"/>
          </a:solidFill>
          <a:ln w="12700">
            <a:solidFill>
              <a:srgbClr val="077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79" y="1600200"/>
            <a:ext cx="197510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60" b="1" i="0">
                <a:solidFill>
                  <a:srgbClr val="122E4E"/>
                </a:solidFill>
                <a:latin typeface="Noto Sans CJK JP"/>
              </a:defRPr>
            </a:pPr>
            <a:r>
              <a:t>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79" y="1883664"/>
            <a:ext cx="1975104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19" b="0" i="0">
                <a:solidFill>
                  <a:srgbClr val="5B6E82"/>
                </a:solidFill>
                <a:latin typeface="Noto Sans CJK JP"/>
              </a:defRPr>
            </a:pPr>
            <a:r>
              <a:t>Receiver・Permission・AI_1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71231" y="2231136"/>
            <a:ext cx="0" cy="3465576"/>
          </a:xfrm>
          <a:prstGeom prst="line">
            <a:avLst/>
          </a:prstGeom>
          <a:ln w="13970">
            <a:solidFill>
              <a:srgbClr val="DBE7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49156" y="1536192"/>
            <a:ext cx="2057400" cy="694944"/>
          </a:xfrm>
          <a:prstGeom prst="roundRect">
            <a:avLst>
              <a:gd name="adj" fmla="val 14000"/>
            </a:avLst>
          </a:prstGeom>
          <a:solidFill>
            <a:srgbClr val="FFF7E1"/>
          </a:solidFill>
          <a:ln w="12700">
            <a:solidFill>
              <a:srgbClr val="B575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5732" y="1600200"/>
            <a:ext cx="198424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360" b="1" i="0">
                <a:solidFill>
                  <a:srgbClr val="122E4E"/>
                </a:solidFill>
                <a:latin typeface="Noto Sans CJK JP"/>
              </a:defRPr>
            </a:pPr>
            <a:r>
              <a:t>AIR Manager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5732" y="1883664"/>
            <a:ext cx="1984248" cy="2240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19" b="0" i="0">
                <a:solidFill>
                  <a:srgbClr val="5B6E82"/>
                </a:solidFill>
                <a:latin typeface="Noto Sans CJK JP"/>
              </a:defRPr>
            </a:pPr>
            <a:r>
              <a:t>C++ / TCP :50001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277856" y="2231136"/>
            <a:ext cx="0" cy="3465576"/>
          </a:xfrm>
          <a:prstGeom prst="line">
            <a:avLst/>
          </a:prstGeom>
          <a:ln w="13970">
            <a:solidFill>
              <a:srgbClr val="DBE7F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46888" y="2322576"/>
            <a:ext cx="429768" cy="3255264"/>
          </a:xfrm>
          <a:prstGeom prst="roundRect">
            <a:avLst>
              <a:gd name="adj" fmla="val 14000"/>
            </a:avLst>
          </a:prstGeom>
          <a:solidFill>
            <a:srgbClr val="F8FBFE"/>
          </a:solidFill>
          <a:ln w="10160">
            <a:solidFill>
              <a:srgbClr val="DBE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38328" y="2359152"/>
            <a:ext cx="228600" cy="228600"/>
          </a:xfrm>
          <a:prstGeom prst="ellips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9300" y="23609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1</a:t>
            </a:r>
          </a:p>
        </p:txBody>
      </p:sp>
      <p:sp>
        <p:nvSpPr>
          <p:cNvPr id="35" name="Oval 34"/>
          <p:cNvSpPr/>
          <p:nvPr/>
        </p:nvSpPr>
        <p:spPr>
          <a:xfrm>
            <a:off x="338328" y="2702052"/>
            <a:ext cx="228600" cy="228600"/>
          </a:xfrm>
          <a:prstGeom prst="ellips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9300" y="27038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2</a:t>
            </a:r>
          </a:p>
        </p:txBody>
      </p:sp>
      <p:sp>
        <p:nvSpPr>
          <p:cNvPr id="37" name="Oval 36"/>
          <p:cNvSpPr/>
          <p:nvPr/>
        </p:nvSpPr>
        <p:spPr>
          <a:xfrm>
            <a:off x="338328" y="3044952"/>
            <a:ext cx="228600" cy="228600"/>
          </a:xfrm>
          <a:prstGeom prst="ellips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9300" y="30467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3</a:t>
            </a:r>
          </a:p>
        </p:txBody>
      </p:sp>
      <p:sp>
        <p:nvSpPr>
          <p:cNvPr id="39" name="Oval 38"/>
          <p:cNvSpPr/>
          <p:nvPr/>
        </p:nvSpPr>
        <p:spPr>
          <a:xfrm>
            <a:off x="338328" y="3387852"/>
            <a:ext cx="228600" cy="228600"/>
          </a:xfrm>
          <a:prstGeom prst="ellips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9300" y="33896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4</a:t>
            </a:r>
          </a:p>
        </p:txBody>
      </p:sp>
      <p:sp>
        <p:nvSpPr>
          <p:cNvPr id="41" name="Oval 40"/>
          <p:cNvSpPr/>
          <p:nvPr/>
        </p:nvSpPr>
        <p:spPr>
          <a:xfrm>
            <a:off x="338328" y="3730752"/>
            <a:ext cx="228600" cy="228600"/>
          </a:xfrm>
          <a:prstGeom prst="ellips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9300" y="37325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338328" y="4073652"/>
            <a:ext cx="228600" cy="228600"/>
          </a:xfrm>
          <a:prstGeom prst="ellips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9300" y="40754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6</a:t>
            </a:r>
          </a:p>
        </p:txBody>
      </p:sp>
      <p:sp>
        <p:nvSpPr>
          <p:cNvPr id="45" name="Oval 44"/>
          <p:cNvSpPr/>
          <p:nvPr/>
        </p:nvSpPr>
        <p:spPr>
          <a:xfrm>
            <a:off x="338328" y="4416552"/>
            <a:ext cx="228600" cy="228600"/>
          </a:xfrm>
          <a:prstGeom prst="ellipse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9300" y="44183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7</a:t>
            </a:r>
          </a:p>
        </p:txBody>
      </p:sp>
      <p:sp>
        <p:nvSpPr>
          <p:cNvPr id="47" name="Oval 46"/>
          <p:cNvSpPr/>
          <p:nvPr/>
        </p:nvSpPr>
        <p:spPr>
          <a:xfrm>
            <a:off x="338328" y="4759452"/>
            <a:ext cx="228600" cy="228600"/>
          </a:xfrm>
          <a:prstGeom prst="ellipse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49300" y="4761280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8</a:t>
            </a:r>
          </a:p>
        </p:txBody>
      </p:sp>
      <p:sp>
        <p:nvSpPr>
          <p:cNvPr id="49" name="Oval 48"/>
          <p:cNvSpPr/>
          <p:nvPr/>
        </p:nvSpPr>
        <p:spPr>
          <a:xfrm>
            <a:off x="338328" y="5120640"/>
            <a:ext cx="228600" cy="228600"/>
          </a:xfrm>
          <a:prstGeom prst="ellipse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49300" y="5122468"/>
            <a:ext cx="20482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850" b="1" i="0">
                <a:solidFill>
                  <a:srgbClr val="FFFFFF"/>
                </a:solidFill>
                <a:latin typeface="Noto Sans CJK JP"/>
              </a:defRPr>
            </a:pPr>
            <a:r>
              <a:t>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70681" y="2432304"/>
            <a:ext cx="89154" cy="1456182"/>
          </a:xfrm>
          <a:prstGeom prst="rect">
            <a:avLst/>
          </a:prstGeom>
          <a:solidFill>
            <a:srgbClr val="EDF5FD"/>
          </a:solidFill>
          <a:ln w="10160">
            <a:solidFill>
              <a:srgbClr val="2E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207508" y="3127248"/>
            <a:ext cx="100584" cy="420623"/>
          </a:xfrm>
          <a:prstGeom prst="rect">
            <a:avLst/>
          </a:prstGeom>
          <a:solidFill>
            <a:srgbClr val="EDF5FD"/>
          </a:solidFill>
          <a:ln w="10160">
            <a:solidFill>
              <a:srgbClr val="2E6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520940" y="3813048"/>
            <a:ext cx="100584" cy="1581912"/>
          </a:xfrm>
          <a:prstGeom prst="rect">
            <a:avLst/>
          </a:prstGeom>
          <a:solidFill>
            <a:srgbClr val="E5F5F1"/>
          </a:solidFill>
          <a:ln w="10160">
            <a:solidFill>
              <a:srgbClr val="077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0227564" y="4498848"/>
            <a:ext cx="100584" cy="411480"/>
          </a:xfrm>
          <a:prstGeom prst="rect">
            <a:avLst/>
          </a:prstGeom>
          <a:solidFill>
            <a:srgbClr val="FFF5DA"/>
          </a:solidFill>
          <a:ln w="10160">
            <a:solidFill>
              <a:srgbClr val="B575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1097280" y="2468880"/>
            <a:ext cx="2112264" cy="0"/>
          </a:xfrm>
          <a:prstGeom prst="line">
            <a:avLst/>
          </a:prstGeom>
          <a:ln w="17145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3161537" y="2420874"/>
            <a:ext cx="96012" cy="96012"/>
          </a:xfrm>
          <a:prstGeom prst="triangl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32687" y="2234793"/>
            <a:ext cx="24414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40" b="0" i="0">
                <a:solidFill>
                  <a:srgbClr val="1E354F"/>
                </a:solidFill>
                <a:latin typeface="Noto Sans CJK JP"/>
              </a:defRPr>
            </a:pPr>
            <a:r>
              <a:t>①「私の左側に来てください」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3209544" y="2811780"/>
            <a:ext cx="384047" cy="0"/>
          </a:xfrm>
          <a:prstGeom prst="line">
            <a:avLst/>
          </a:prstGeom>
          <a:ln w="17780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593591" y="2811780"/>
            <a:ext cx="0" cy="100584"/>
          </a:xfrm>
          <a:prstGeom prst="line">
            <a:avLst/>
          </a:prstGeom>
          <a:ln w="17780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3255263" y="2912364"/>
            <a:ext cx="338328" cy="0"/>
          </a:xfrm>
          <a:prstGeom prst="line">
            <a:avLst/>
          </a:prstGeom>
          <a:ln w="17145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16200000">
            <a:off x="3207257" y="2864358"/>
            <a:ext cx="96012" cy="96012"/>
          </a:xfrm>
          <a:prstGeom prst="triangl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90674" y="2566264"/>
            <a:ext cx="17556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80" b="0" i="0">
                <a:solidFill>
                  <a:srgbClr val="1E354F"/>
                </a:solidFill>
                <a:latin typeface="Noto Sans CJK JP"/>
              </a:defRPr>
            </a:pPr>
            <a:r>
              <a:rPr dirty="0"/>
              <a:t>② </a:t>
            </a:r>
            <a:r>
              <a:rPr dirty="0" err="1"/>
              <a:t>Whisper文字起こし</a:t>
            </a:r>
            <a:endParaRPr dirty="0"/>
          </a:p>
        </p:txBody>
      </p:sp>
      <p:cxnSp>
        <p:nvCxnSpPr>
          <p:cNvPr id="65" name="Connector 64"/>
          <p:cNvCxnSpPr/>
          <p:nvPr/>
        </p:nvCxnSpPr>
        <p:spPr>
          <a:xfrm>
            <a:off x="3209544" y="3154680"/>
            <a:ext cx="2048256" cy="0"/>
          </a:xfrm>
          <a:prstGeom prst="line">
            <a:avLst/>
          </a:prstGeom>
          <a:ln w="17145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Isosceles Triangle 65"/>
          <p:cNvSpPr/>
          <p:nvPr/>
        </p:nvSpPr>
        <p:spPr>
          <a:xfrm rot="5400000">
            <a:off x="5209794" y="3106674"/>
            <a:ext cx="96012" cy="96012"/>
          </a:xfrm>
          <a:prstGeom prst="triangl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214116" y="2920593"/>
            <a:ext cx="2039112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30" b="0" i="0">
                <a:solidFill>
                  <a:srgbClr val="1E354F"/>
                </a:solidFill>
                <a:latin typeface="Noto Sans CJK JP"/>
              </a:defRPr>
            </a:pPr>
            <a:r>
              <a:t>③ 自然言語を構造化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3209544" y="3497580"/>
            <a:ext cx="2048256" cy="0"/>
          </a:xfrm>
          <a:prstGeom prst="line">
            <a:avLst/>
          </a:prstGeom>
          <a:ln w="17145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16200000">
            <a:off x="3161537" y="3449574"/>
            <a:ext cx="96012" cy="96012"/>
          </a:xfrm>
          <a:prstGeom prst="triangl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241548" y="3263493"/>
            <a:ext cx="1984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19" b="0" i="0">
                <a:solidFill>
                  <a:srgbClr val="1E354F"/>
                </a:solidFill>
                <a:latin typeface="Noto Sans CJK JP"/>
              </a:defRPr>
            </a:pPr>
            <a:r>
              <a:t>④ JSON: move / left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209544" y="3840480"/>
            <a:ext cx="4361687" cy="0"/>
          </a:xfrm>
          <a:prstGeom prst="line">
            <a:avLst/>
          </a:prstGeom>
          <a:ln w="17145">
            <a:solidFill>
              <a:srgbClr val="2E6F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/>
          <p:cNvSpPr/>
          <p:nvPr/>
        </p:nvSpPr>
        <p:spPr>
          <a:xfrm rot="5400000">
            <a:off x="7523225" y="3792474"/>
            <a:ext cx="96012" cy="96012"/>
          </a:xfrm>
          <a:prstGeom prst="triangle">
            <a:avLst/>
          </a:prstGeom>
          <a:solidFill>
            <a:srgbClr val="2E6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355847" y="3606393"/>
            <a:ext cx="406908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10" b="0" i="0">
                <a:solidFill>
                  <a:srgbClr val="1E354F"/>
                </a:solidFill>
                <a:latin typeface="Noto Sans CJK JP"/>
              </a:defRPr>
            </a:pPr>
            <a:r>
              <a:t>⑤ action_requestを送信 [TCP :50000]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571231" y="4183380"/>
            <a:ext cx="475488" cy="0"/>
          </a:xfrm>
          <a:prstGeom prst="line">
            <a:avLst/>
          </a:prstGeom>
          <a:ln w="1778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046719" y="4183380"/>
            <a:ext cx="0" cy="100584"/>
          </a:xfrm>
          <a:prstGeom prst="line">
            <a:avLst/>
          </a:prstGeom>
          <a:ln w="1778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7616952" y="4283964"/>
            <a:ext cx="429767" cy="0"/>
          </a:xfrm>
          <a:prstGeom prst="line">
            <a:avLst/>
          </a:prstGeom>
          <a:ln w="2286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16200000">
            <a:off x="7568946" y="4235958"/>
            <a:ext cx="96012" cy="96012"/>
          </a:xfrm>
          <a:prstGeom prst="triangle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7779258" y="3945636"/>
            <a:ext cx="198424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00" b="0" i="0">
                <a:solidFill>
                  <a:srgbClr val="1E354F"/>
                </a:solidFill>
                <a:latin typeface="Noto Sans CJK JP"/>
              </a:defRPr>
            </a:pPr>
            <a:r>
              <a:rPr dirty="0"/>
              <a:t>⑥ </a:t>
            </a:r>
            <a:r>
              <a:rPr dirty="0" err="1"/>
              <a:t>PermissionChecker：許可</a:t>
            </a:r>
            <a:endParaRPr dirty="0"/>
          </a:p>
        </p:txBody>
      </p:sp>
      <p:cxnSp>
        <p:nvCxnSpPr>
          <p:cNvPr id="83" name="Connector 82"/>
          <p:cNvCxnSpPr/>
          <p:nvPr/>
        </p:nvCxnSpPr>
        <p:spPr>
          <a:xfrm>
            <a:off x="7571231" y="4526280"/>
            <a:ext cx="2706625" cy="0"/>
          </a:xfrm>
          <a:prstGeom prst="line">
            <a:avLst/>
          </a:prstGeom>
          <a:ln w="2286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Isosceles Triangle 83"/>
          <p:cNvSpPr/>
          <p:nvPr/>
        </p:nvSpPr>
        <p:spPr>
          <a:xfrm rot="5400000">
            <a:off x="10229850" y="4478274"/>
            <a:ext cx="96012" cy="96012"/>
          </a:xfrm>
          <a:prstGeom prst="triangle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452360" y="4292193"/>
            <a:ext cx="294436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50" b="1" i="0">
                <a:solidFill>
                  <a:srgbClr val="1E354F"/>
                </a:solidFill>
                <a:latin typeface="Noto Sans CJK JP"/>
              </a:defRPr>
            </a:pPr>
            <a:r>
              <a:t>⑦ SendHumanState(direction) [TCP :50001]</a:t>
            </a:r>
          </a:p>
        </p:txBody>
      </p:sp>
      <p:cxnSp>
        <p:nvCxnSpPr>
          <p:cNvPr id="87" name="Connector 86"/>
          <p:cNvCxnSpPr/>
          <p:nvPr/>
        </p:nvCxnSpPr>
        <p:spPr>
          <a:xfrm flipH="1">
            <a:off x="7571231" y="4869180"/>
            <a:ext cx="2706625" cy="0"/>
          </a:xfrm>
          <a:prstGeom prst="line">
            <a:avLst/>
          </a:prstGeom>
          <a:ln w="17145">
            <a:solidFill>
              <a:srgbClr val="B5751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Isosceles Triangle 87"/>
          <p:cNvSpPr/>
          <p:nvPr/>
        </p:nvSpPr>
        <p:spPr>
          <a:xfrm rot="16200000">
            <a:off x="7523225" y="4821174"/>
            <a:ext cx="96012" cy="96012"/>
          </a:xfrm>
          <a:prstGeom prst="triangle">
            <a:avLst/>
          </a:prstGeom>
          <a:solidFill>
            <a:srgbClr val="B57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123175" y="4635093"/>
            <a:ext cx="36027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80" b="0" i="0">
                <a:solidFill>
                  <a:srgbClr val="B5751E"/>
                </a:solidFill>
                <a:latin typeface="Noto Sans CJK JP"/>
              </a:defRPr>
            </a:pPr>
            <a:r>
              <a:t>⑧ target_positionを返送（設計記録）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571231" y="5230368"/>
            <a:ext cx="621792" cy="0"/>
          </a:xfrm>
          <a:prstGeom prst="line">
            <a:avLst/>
          </a:prstGeom>
          <a:ln w="2159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193023" y="5230368"/>
            <a:ext cx="0" cy="91439"/>
          </a:xfrm>
          <a:prstGeom prst="line">
            <a:avLst/>
          </a:prstGeom>
          <a:ln w="2159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7607807" y="5321807"/>
            <a:ext cx="585216" cy="0"/>
          </a:xfrm>
          <a:prstGeom prst="line">
            <a:avLst/>
          </a:prstGeom>
          <a:ln w="22860">
            <a:solidFill>
              <a:srgbClr val="0779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Isosceles Triangle 93"/>
          <p:cNvSpPr/>
          <p:nvPr/>
        </p:nvSpPr>
        <p:spPr>
          <a:xfrm rot="16200000">
            <a:off x="7559801" y="5273801"/>
            <a:ext cx="96012" cy="96012"/>
          </a:xfrm>
          <a:prstGeom prst="triangle">
            <a:avLst/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289805" y="5162931"/>
            <a:ext cx="25786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40" b="1" i="0">
                <a:solidFill>
                  <a:srgbClr val="1E354F"/>
                </a:solidFill>
                <a:latin typeface="Noto Sans CJK JP"/>
              </a:defRPr>
            </a:pPr>
            <a:r>
              <a:rPr dirty="0"/>
              <a:t>⑨ UnityがAI_1の位置を更新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88552" y="5102352"/>
            <a:ext cx="2679192" cy="448056"/>
          </a:xfrm>
          <a:prstGeom prst="roundRect">
            <a:avLst>
              <a:gd name="adj" fmla="val 14000"/>
            </a:avLst>
          </a:prstGeom>
          <a:solidFill>
            <a:srgbClr val="E3F6F4"/>
          </a:solidFill>
          <a:ln w="11430">
            <a:solidFill>
              <a:srgbClr val="0779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9107424" y="5143500"/>
            <a:ext cx="2432304" cy="3566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969" b="1" i="0">
                <a:solidFill>
                  <a:srgbClr val="077979"/>
                </a:solidFill>
                <a:latin typeface="Noto Sans CJK JP"/>
              </a:defRPr>
            </a:pPr>
            <a:r>
              <a:t>AIR：目標位置の算出／管理</a:t>
            </a:r>
          </a:p>
          <a:p>
            <a:pPr algn="ctr">
              <a:spcAft>
                <a:spcPts val="0"/>
              </a:spcAft>
              <a:defRPr sz="969" b="1" i="0">
                <a:solidFill>
                  <a:srgbClr val="077979"/>
                </a:solidFill>
                <a:latin typeface="Noto Sans CJK JP"/>
              </a:defRPr>
            </a:pPr>
            <a:r>
              <a:t>Unity：AI_1の移動反映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457200" y="5769864"/>
            <a:ext cx="11228832" cy="0"/>
          </a:xfrm>
          <a:prstGeom prst="line">
            <a:avLst/>
          </a:prstGeom>
          <a:ln w="12700">
            <a:solidFill>
              <a:srgbClr val="DBE7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475488" y="5888736"/>
            <a:ext cx="5349240" cy="640080"/>
          </a:xfrm>
          <a:prstGeom prst="roundRect">
            <a:avLst>
              <a:gd name="adj" fmla="val 14000"/>
            </a:avLst>
          </a:prstGeom>
          <a:solidFill>
            <a:srgbClr val="E3F6F4"/>
          </a:solidFill>
          <a:ln w="10160">
            <a:solidFill>
              <a:srgbClr val="C9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94360" y="5971032"/>
            <a:ext cx="704088" cy="219456"/>
          </a:xfrm>
          <a:prstGeom prst="roundRect">
            <a:avLst>
              <a:gd name="adj" fmla="val 14000"/>
            </a:avLst>
          </a:prstGeom>
          <a:solidFill>
            <a:srgbClr val="0779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17220" y="5967374"/>
            <a:ext cx="65836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00" b="1" i="0">
                <a:solidFill>
                  <a:srgbClr val="FFFFFF"/>
                </a:solidFill>
                <a:latin typeface="Noto Sans CJK JP"/>
              </a:defRPr>
            </a:pPr>
            <a:r>
              <a:t>実測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08176" y="5939028"/>
            <a:ext cx="42245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30" b="0" i="0">
                <a:solidFill>
                  <a:srgbClr val="1E354F"/>
                </a:solidFill>
                <a:latin typeface="Noto Sans CJK JP"/>
              </a:defRPr>
            </a:pPr>
            <a:r>
              <a:t>音声入力 → AIR Manager経由 → AI_1移動が成立</a:t>
            </a:r>
          </a:p>
          <a:p>
            <a:pPr algn="l">
              <a:spcAft>
                <a:spcPts val="0"/>
              </a:spcAft>
              <a:defRPr sz="1030" b="0" i="0">
                <a:solidFill>
                  <a:srgbClr val="1E354F"/>
                </a:solidFill>
                <a:latin typeface="Noto Sans CJK JP"/>
              </a:defRPr>
            </a:pPr>
            <a:r>
              <a:t>受信表示だけでなく、AI_1の実移動を確認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016752" y="5888736"/>
            <a:ext cx="5650992" cy="640080"/>
          </a:xfrm>
          <a:prstGeom prst="roundRect">
            <a:avLst>
              <a:gd name="adj" fmla="val 14000"/>
            </a:avLst>
          </a:prstGeom>
          <a:solidFill>
            <a:srgbClr val="FFF7E1"/>
          </a:solidFill>
          <a:ln w="10160">
            <a:solidFill>
              <a:srgbClr val="F3DF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6126480" y="5971032"/>
            <a:ext cx="1033271" cy="219456"/>
          </a:xfrm>
          <a:prstGeom prst="roundRect">
            <a:avLst>
              <a:gd name="adj" fmla="val 14000"/>
            </a:avLst>
          </a:prstGeom>
          <a:solidFill>
            <a:srgbClr val="B575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6153912" y="5967374"/>
            <a:ext cx="9784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  <a:defRPr sz="1000" b="1" i="0">
                <a:solidFill>
                  <a:srgbClr val="FFFFFF"/>
                </a:solidFill>
                <a:latin typeface="Noto Sans CJK JP"/>
              </a:defRPr>
            </a:pPr>
            <a:r>
              <a:t>要照合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5939028"/>
            <a:ext cx="42153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1000" b="0" i="0">
                <a:solidFill>
                  <a:srgbClr val="1E354F"/>
                </a:solidFill>
                <a:latin typeface="Noto Sans CJK JP"/>
              </a:defRPr>
            </a:pPr>
            <a:r>
              <a:t>Human_1の現在位置送信・AIR返信形式はコード照合待ち</a:t>
            </a:r>
          </a:p>
          <a:p>
            <a:pPr algn="l">
              <a:spcAft>
                <a:spcPts val="0"/>
              </a:spcAft>
              <a:defRPr sz="1000" b="0" i="0">
                <a:solidFill>
                  <a:srgbClr val="1E354F"/>
                </a:solidFill>
                <a:latin typeface="Noto Sans CJK JP"/>
              </a:defRPr>
            </a:pPr>
            <a:r>
              <a:t>Verification / Experienceは今回の成功判定に含めない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12064" y="6601968"/>
            <a:ext cx="11100816" cy="155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  <a:defRPr sz="844" b="0" i="0">
                <a:solidFill>
                  <a:srgbClr val="5B6E82"/>
                </a:solidFill>
                <a:latin typeface="Noto Sans CJK JP"/>
              </a:defRPr>
            </a:pPr>
            <a:r>
              <a:t>注：⑦の関数呼出しは確認済み。Human_1の座標送信・⑧のAIR計算と返信は過去の設計記録に基づく概念表現（詳細未確認）。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183</Words>
  <Application>Microsoft Office PowerPoint</Application>
  <PresentationFormat>ワイド画面</PresentationFormat>
  <Paragraphs>41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 Managerとの位置情報授受とUnity AI_1移動 — UMLシーケンス図</dc:title>
  <dc:subject>AI_MR_Sandbox CH12 E2E runtime validation</dc:subject>
  <dc:creator>ChatGPT</dc:creator>
  <cp:keywords>Unity, AIRManager, Whisper, Qwen3, sequence diagram, MR</cp:keywords>
  <dc:description>generated using python-pptx</dc:description>
  <cp:lastModifiedBy>大島 登志一(ohshimat)</cp:lastModifiedBy>
  <cp:revision>2</cp:revision>
  <dcterms:created xsi:type="dcterms:W3CDTF">2013-01-27T09:14:16Z</dcterms:created>
  <dcterms:modified xsi:type="dcterms:W3CDTF">2026-10-31T13:48:38Z</dcterms:modified>
  <cp:category/>
</cp:coreProperties>
</file>